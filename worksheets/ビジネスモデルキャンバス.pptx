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3E0"/>
    <a:srgbClr val="EAE4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9" autoAdjust="0"/>
    <p:restoredTop sz="94628" autoAdjust="0"/>
  </p:normalViewPr>
  <p:slideViewPr>
    <p:cSldViewPr>
      <p:cViewPr>
        <p:scale>
          <a:sx n="70" d="100"/>
          <a:sy n="70" d="100"/>
        </p:scale>
        <p:origin x="552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FC70F6E3-EB35-69E6-3AD9-82B5DD7B3E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8B14964-516D-E826-2643-C50A7A05C9EB}"/>
              </a:ext>
            </a:extLst>
          </p:cNvPr>
          <p:cNvSpPr/>
          <p:nvPr userDrawn="1"/>
        </p:nvSpPr>
        <p:spPr>
          <a:xfrm>
            <a:off x="1117600" y="1600200"/>
            <a:ext cx="2057400" cy="609600"/>
          </a:xfrm>
          <a:prstGeom prst="rect">
            <a:avLst/>
          </a:prstGeom>
          <a:solidFill>
            <a:srgbClr val="FBF3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キーパートナー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F46FC7B-1834-77FF-26C6-9200E905114C}"/>
              </a:ext>
            </a:extLst>
          </p:cNvPr>
          <p:cNvSpPr/>
          <p:nvPr userDrawn="1"/>
        </p:nvSpPr>
        <p:spPr>
          <a:xfrm>
            <a:off x="4165600" y="1600200"/>
            <a:ext cx="2286000" cy="609600"/>
          </a:xfrm>
          <a:prstGeom prst="rect">
            <a:avLst/>
          </a:prstGeom>
          <a:solidFill>
            <a:srgbClr val="FBF3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キーアクティビティ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DE6D847-D940-9CE7-416E-F584CA6CC1E5}"/>
              </a:ext>
            </a:extLst>
          </p:cNvPr>
          <p:cNvSpPr/>
          <p:nvPr userDrawn="1"/>
        </p:nvSpPr>
        <p:spPr>
          <a:xfrm>
            <a:off x="4140200" y="4267200"/>
            <a:ext cx="2286000" cy="609600"/>
          </a:xfrm>
          <a:prstGeom prst="rect">
            <a:avLst/>
          </a:prstGeom>
          <a:solidFill>
            <a:srgbClr val="FBF3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キーリソース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1B9AEC8-9F74-A1F4-C055-1E00ACABA34B}"/>
              </a:ext>
            </a:extLst>
          </p:cNvPr>
          <p:cNvSpPr/>
          <p:nvPr userDrawn="1"/>
        </p:nvSpPr>
        <p:spPr>
          <a:xfrm>
            <a:off x="7213600" y="1600200"/>
            <a:ext cx="2286000" cy="609600"/>
          </a:xfrm>
          <a:prstGeom prst="rect">
            <a:avLst/>
          </a:prstGeom>
          <a:solidFill>
            <a:srgbClr val="FBF3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提供価値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61E5D39-BEED-EC71-5414-0A262E2DF7FD}"/>
              </a:ext>
            </a:extLst>
          </p:cNvPr>
          <p:cNvSpPr/>
          <p:nvPr userDrawn="1"/>
        </p:nvSpPr>
        <p:spPr>
          <a:xfrm>
            <a:off x="10249647" y="1600200"/>
            <a:ext cx="2286000" cy="609600"/>
          </a:xfrm>
          <a:prstGeom prst="rect">
            <a:avLst/>
          </a:prstGeom>
          <a:solidFill>
            <a:srgbClr val="FBF3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顧客との関係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3A4098A-0395-BEBD-E0E1-5DD618DC7289}"/>
              </a:ext>
            </a:extLst>
          </p:cNvPr>
          <p:cNvSpPr/>
          <p:nvPr userDrawn="1"/>
        </p:nvSpPr>
        <p:spPr>
          <a:xfrm>
            <a:off x="10249647" y="4253753"/>
            <a:ext cx="2286000" cy="609600"/>
          </a:xfrm>
          <a:prstGeom prst="rect">
            <a:avLst/>
          </a:prstGeom>
          <a:solidFill>
            <a:srgbClr val="FBF3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チャネル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F1BB76F-374F-9BEA-1C2C-409E44EE151B}"/>
              </a:ext>
            </a:extLst>
          </p:cNvPr>
          <p:cNvSpPr/>
          <p:nvPr userDrawn="1"/>
        </p:nvSpPr>
        <p:spPr>
          <a:xfrm>
            <a:off x="13385800" y="1600200"/>
            <a:ext cx="2286000" cy="609600"/>
          </a:xfrm>
          <a:prstGeom prst="rect">
            <a:avLst/>
          </a:prstGeom>
          <a:solidFill>
            <a:srgbClr val="FBF3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顧客セグメント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6091278-3672-A8B6-A470-BDAD76BEE685}"/>
              </a:ext>
            </a:extLst>
          </p:cNvPr>
          <p:cNvSpPr/>
          <p:nvPr userDrawn="1"/>
        </p:nvSpPr>
        <p:spPr>
          <a:xfrm>
            <a:off x="8737600" y="7010400"/>
            <a:ext cx="2286000" cy="533400"/>
          </a:xfrm>
          <a:prstGeom prst="rect">
            <a:avLst/>
          </a:prstGeom>
          <a:solidFill>
            <a:srgbClr val="FBF3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収益の流れ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F2C83B0-DE1B-0B84-6E13-9A4E7493A1FE}"/>
              </a:ext>
            </a:extLst>
          </p:cNvPr>
          <p:cNvSpPr/>
          <p:nvPr userDrawn="1"/>
        </p:nvSpPr>
        <p:spPr>
          <a:xfrm>
            <a:off x="1117600" y="6992471"/>
            <a:ext cx="2286000" cy="533400"/>
          </a:xfrm>
          <a:prstGeom prst="rect">
            <a:avLst/>
          </a:prstGeom>
          <a:solidFill>
            <a:srgbClr val="FBF3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コスト構造</a:t>
            </a:r>
          </a:p>
        </p:txBody>
      </p:sp>
    </p:spTree>
    <p:extLst>
      <p:ext uri="{BB962C8B-B14F-4D97-AF65-F5344CB8AC3E}">
        <p14:creationId xmlns:p14="http://schemas.microsoft.com/office/powerpoint/2010/main" val="2030637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1">
            <a:extLst>
              <a:ext uri="{FF2B5EF4-FFF2-40B4-BE49-F238E27FC236}">
                <a16:creationId xmlns:a16="http://schemas.microsoft.com/office/drawing/2014/main" id="{555A689A-128B-55E2-791E-3BEA3FB4173F}"/>
              </a:ext>
            </a:extLst>
          </p:cNvPr>
          <p:cNvSpPr/>
          <p:nvPr/>
        </p:nvSpPr>
        <p:spPr>
          <a:xfrm>
            <a:off x="660400" y="2209800"/>
            <a:ext cx="2667000" cy="4343400"/>
          </a:xfrm>
          <a:prstGeom prst="roundRect">
            <a:avLst>
              <a:gd name="adj" fmla="val 3771"/>
            </a:avLst>
          </a:prstGeom>
          <a:solidFill>
            <a:srgbClr val="EAE4D2"/>
          </a:solidFill>
          <a:ln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CA49D8E5-79D6-F6DD-FAD1-A806A1634AE1}"/>
              </a:ext>
            </a:extLst>
          </p:cNvPr>
          <p:cNvSpPr/>
          <p:nvPr/>
        </p:nvSpPr>
        <p:spPr>
          <a:xfrm>
            <a:off x="3708400" y="2209800"/>
            <a:ext cx="2667000" cy="1600200"/>
          </a:xfrm>
          <a:prstGeom prst="roundRect">
            <a:avLst>
              <a:gd name="adj" fmla="val 3771"/>
            </a:avLst>
          </a:prstGeom>
          <a:solidFill>
            <a:srgbClr val="EAE4D2"/>
          </a:solidFill>
          <a:ln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C0152BED-C73E-A43E-02D1-917524036D96}"/>
              </a:ext>
            </a:extLst>
          </p:cNvPr>
          <p:cNvSpPr/>
          <p:nvPr/>
        </p:nvSpPr>
        <p:spPr>
          <a:xfrm>
            <a:off x="3708400" y="4953000"/>
            <a:ext cx="2667000" cy="1600200"/>
          </a:xfrm>
          <a:prstGeom prst="roundRect">
            <a:avLst>
              <a:gd name="adj" fmla="val 3771"/>
            </a:avLst>
          </a:prstGeom>
          <a:solidFill>
            <a:srgbClr val="EAE4D2"/>
          </a:solidFill>
          <a:ln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0C826777-6A37-7C36-A1A7-451D222237E0}"/>
              </a:ext>
            </a:extLst>
          </p:cNvPr>
          <p:cNvSpPr/>
          <p:nvPr/>
        </p:nvSpPr>
        <p:spPr>
          <a:xfrm>
            <a:off x="6832600" y="2209800"/>
            <a:ext cx="2667000" cy="4343400"/>
          </a:xfrm>
          <a:prstGeom prst="roundRect">
            <a:avLst>
              <a:gd name="adj" fmla="val 3771"/>
            </a:avLst>
          </a:prstGeom>
          <a:solidFill>
            <a:srgbClr val="EAE4D2"/>
          </a:solidFill>
          <a:ln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21087735-F16B-9CDA-895D-987DE9FB22B6}"/>
              </a:ext>
            </a:extLst>
          </p:cNvPr>
          <p:cNvSpPr/>
          <p:nvPr/>
        </p:nvSpPr>
        <p:spPr>
          <a:xfrm>
            <a:off x="12928600" y="2209800"/>
            <a:ext cx="2667000" cy="4343400"/>
          </a:xfrm>
          <a:prstGeom prst="roundRect">
            <a:avLst>
              <a:gd name="adj" fmla="val 3771"/>
            </a:avLst>
          </a:prstGeom>
          <a:solidFill>
            <a:srgbClr val="EAE4D2"/>
          </a:solidFill>
          <a:ln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02494D35-E301-9111-9BD5-C39701A60A27}"/>
              </a:ext>
            </a:extLst>
          </p:cNvPr>
          <p:cNvSpPr/>
          <p:nvPr/>
        </p:nvSpPr>
        <p:spPr>
          <a:xfrm>
            <a:off x="9880600" y="2209800"/>
            <a:ext cx="2667000" cy="1600200"/>
          </a:xfrm>
          <a:prstGeom prst="roundRect">
            <a:avLst>
              <a:gd name="adj" fmla="val 3771"/>
            </a:avLst>
          </a:prstGeom>
          <a:solidFill>
            <a:srgbClr val="EAE4D2"/>
          </a:solidFill>
          <a:ln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AE7979AC-F49E-9BD5-94D4-B80619BFCDC4}"/>
              </a:ext>
            </a:extLst>
          </p:cNvPr>
          <p:cNvSpPr/>
          <p:nvPr/>
        </p:nvSpPr>
        <p:spPr>
          <a:xfrm>
            <a:off x="9880600" y="4953000"/>
            <a:ext cx="2667000" cy="1600200"/>
          </a:xfrm>
          <a:prstGeom prst="roundRect">
            <a:avLst>
              <a:gd name="adj" fmla="val 3771"/>
            </a:avLst>
          </a:prstGeom>
          <a:solidFill>
            <a:srgbClr val="EAE4D2"/>
          </a:solidFill>
          <a:ln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FB52DAD0-CC01-2C57-FDDE-FBBF5093EC65}"/>
              </a:ext>
            </a:extLst>
          </p:cNvPr>
          <p:cNvSpPr/>
          <p:nvPr/>
        </p:nvSpPr>
        <p:spPr>
          <a:xfrm>
            <a:off x="660400" y="7543799"/>
            <a:ext cx="7315200" cy="1016977"/>
          </a:xfrm>
          <a:prstGeom prst="roundRect">
            <a:avLst>
              <a:gd name="adj" fmla="val 3771"/>
            </a:avLst>
          </a:prstGeom>
          <a:solidFill>
            <a:srgbClr val="EAE4D2"/>
          </a:solidFill>
          <a:ln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FD8D441A-BDAE-C12B-DFFD-8DA747639688}"/>
              </a:ext>
            </a:extLst>
          </p:cNvPr>
          <p:cNvSpPr/>
          <p:nvPr/>
        </p:nvSpPr>
        <p:spPr>
          <a:xfrm>
            <a:off x="8284310" y="7543799"/>
            <a:ext cx="7315200" cy="1016977"/>
          </a:xfrm>
          <a:prstGeom prst="roundRect">
            <a:avLst>
              <a:gd name="adj" fmla="val 3771"/>
            </a:avLst>
          </a:prstGeom>
          <a:solidFill>
            <a:srgbClr val="EAE4D2"/>
          </a:solidFill>
          <a:ln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6177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7D39E3D-046C-F4BC-24C7-D71C2F1D20D9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en-US" altLang="ja-JP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kumimoji="1" lang="en-US" altLang="ja-JP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lvl="1"/>
            <a:r>
              <a:rPr kumimoji="1" lang="ja-JP" altLang="en-US" sz="28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このワークシートは </a:t>
            </a:r>
            <a:r>
              <a:rPr kumimoji="1" lang="en-US" altLang="ja-JP" sz="28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CC0 1.0 Universal</a:t>
            </a:r>
            <a:r>
              <a:rPr kumimoji="1" lang="ja-JP" altLang="en-US" sz="28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（</a:t>
            </a:r>
            <a:r>
              <a:rPr kumimoji="1" lang="en-US" altLang="ja-JP" sz="28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CC0</a:t>
            </a:r>
            <a:r>
              <a:rPr kumimoji="1" lang="ja-JP" altLang="en-US" sz="28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）ライセンスのもとで公開しています。</a:t>
            </a:r>
          </a:p>
          <a:p>
            <a:pPr lvl="1"/>
            <a:endParaRPr kumimoji="1" lang="en-US" altLang="ja-JP" sz="28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lvl="1"/>
            <a:r>
              <a:rPr kumimoji="1" lang="ja-JP" altLang="en-US" sz="28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概要は以下の通りです。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ja-JP" altLang="en-US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商用利用できます。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ja-JP" altLang="en-US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自由に改変できます。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ja-JP" altLang="en-US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自由に再配布できます。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ja-JP" altLang="en-US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クレジット（著作者表示）は不要です。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ja-JP" altLang="en-US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利用にあたっての保証はありません。自己責任でご利用ください。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ja-JP" altLang="en-US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つまり、個人・法人を問わず、自由にご利用いただけます。</a:t>
            </a:r>
            <a:endParaRPr kumimoji="1" lang="en-US" altLang="ja-JP" sz="28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kumimoji="1" lang="en-US" altLang="ja-JP" sz="28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kumimoji="1" lang="en-US" altLang="ja-JP" sz="28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ja-JP" altLang="en-US" sz="28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ワンポイントアドバイス</a:t>
            </a:r>
            <a:endParaRPr kumimoji="1" lang="en-US" altLang="ja-JP" sz="2800" b="1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lvl="2"/>
            <a:r>
              <a:rPr kumimoji="1" lang="en-US" altLang="ja-JP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ChatGPT</a:t>
            </a:r>
            <a:r>
              <a:rPr kumimoji="1" lang="ja-JP" altLang="en-US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に「</a:t>
            </a:r>
            <a:r>
              <a:rPr kumimoji="1" lang="en-US" altLang="ja-JP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16:9</a:t>
            </a:r>
            <a:r>
              <a:rPr kumimoji="1" lang="ja-JP" altLang="en-US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のビジネスモデルキャンバスの背景テンプレートを画像生成して」と依頼し、生成した画像をスライドの背景として貼り付ければ、お好みのデザインに簡単に変更できます。</a:t>
            </a:r>
            <a:endParaRPr kumimoji="1" lang="en-US" altLang="ja-JP" sz="28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kumimoji="1" lang="en-US" altLang="ja-JP" sz="28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kumimoji="1" lang="en-US" altLang="ja-JP" sz="28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ja-JP" altLang="en-US" sz="28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制作</a:t>
            </a:r>
            <a:br>
              <a:rPr kumimoji="1" lang="en-US" altLang="ja-JP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kumimoji="1" lang="ja-JP" altLang="en-US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札幌すごい</a:t>
            </a:r>
            <a:r>
              <a:rPr kumimoji="1" lang="en-US" altLang="ja-JP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AI</a:t>
            </a:r>
            <a:r>
              <a:rPr kumimoji="1" lang="ja-JP" altLang="en-US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会</a:t>
            </a:r>
            <a:r>
              <a:rPr kumimoji="1" lang="en-US" altLang="ja-JP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kumimoji="1" lang="ja-JP" altLang="en-US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代表</a:t>
            </a:r>
            <a:br>
              <a:rPr kumimoji="1" lang="en-US" altLang="ja-JP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kumimoji="1" lang="ja-JP" altLang="en-US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岸本悠佑</a:t>
            </a:r>
            <a:r>
              <a:rPr kumimoji="1" lang="en-US" altLang="ja-JP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_AI</a:t>
            </a:r>
            <a:r>
              <a:rPr kumimoji="1" lang="ja-JP" altLang="en-US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サムライ</a:t>
            </a:r>
          </a:p>
          <a:p>
            <a:endParaRPr kumimoji="1" lang="en-US" altLang="ja-JP" sz="36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4451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127</Words>
  <Application>Microsoft Macintosh PowerPoint</Application>
  <PresentationFormat>ユーザー設定</PresentationFormat>
  <Paragraphs>18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Meiryo</vt:lpstr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Kishimoto, Yusuke</cp:lastModifiedBy>
  <cp:revision>12</cp:revision>
  <dcterms:created xsi:type="dcterms:W3CDTF">2006-08-16T00:00:00Z</dcterms:created>
  <dcterms:modified xsi:type="dcterms:W3CDTF">2026-07-20T08:40:54Z</dcterms:modified>
</cp:coreProperties>
</file>